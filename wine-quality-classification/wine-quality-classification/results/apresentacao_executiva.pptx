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486400" cy="5486400"/>
          </a:xfrm>
          <a:prstGeom prst="ellipse">
            <a:avLst/>
          </a:prstGeom>
          <a:solidFill>
            <a:srgbClr val="5C221D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108960" cy="3108960"/>
          </a:xfrm>
          <a:prstGeom prst="ellipse">
            <a:avLst/>
          </a:prstGeom>
          <a:solidFill>
            <a:srgbClr val="65262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POSTECH · TECH CHALLENGE · FASE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875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Classificando a Qualidade de Vinhos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Machine Learning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9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leitura orientada a dados sobre o que separa um vinho premiado de um vinho comum — e como a produção pode usar isso a seu favor.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074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Executiva — Análise Exploratória &amp; Modelos Preditivos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DE NEGÓCIO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 qualidade hoje depende de degustação humana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7F2E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7B2D2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Subjetivo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nota final varia conforme o avaliador, o dia e até o paladar de quem prova.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7F2E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240280"/>
            <a:ext cx="548640" cy="548640"/>
          </a:xfrm>
          <a:prstGeom prst="ellipse">
            <a:avLst/>
          </a:prstGeom>
          <a:solidFill>
            <a:srgbClr val="7B2D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33375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sensorial não escala: cada lote depende de tempo de especialistas.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7F2EA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2240280"/>
            <a:ext cx="548640" cy="548640"/>
          </a:xfrm>
          <a:prstGeom prst="ellipse">
            <a:avLst/>
          </a:prstGeom>
          <a:solidFill>
            <a:srgbClr val="7B2D26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21040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Tardio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040" y="33375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só é percebido depois que o vinho já está pronto — tarde para corrigir o processo.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7B2D26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00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objetivo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5138928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as características físico-químicas medidas em laboratório — acidez, açúcar, álcool, sulfatos — para prever se um vinho será de Alta Qualidade antes mesmo da degustação final.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Classificação de Qualidade de Vinhos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DE DADOS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1.143 amostras de vinho tinto, medidas em laboratório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7B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1.143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 analisadas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337560" y="19202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7B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337560" y="2788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físico-químicas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7B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126480" y="2788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em branco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15400" y="19202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7B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13,9%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915400" y="2788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vinhos de alta qualidade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1064240" cy="0"/>
          </a:xfrm>
          <a:prstGeom prst="line">
            <a:avLst/>
          </a:prstGeom>
          <a:noFill/>
          <a:ln w="12700">
            <a:solidFill>
              <a:srgbClr val="E4D9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medido em cada amostra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7F2E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251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Acidez fixa e volátil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35808" y="425196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7F2EA"/>
          </a:solidFill>
          <a:ln/>
        </p:spPr>
      </p:sp>
      <p:sp>
        <p:nvSpPr>
          <p:cNvPr id="17" name="Text 15"/>
          <p:cNvSpPr/>
          <p:nvPr/>
        </p:nvSpPr>
        <p:spPr>
          <a:xfrm>
            <a:off x="3035808" y="4251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cítrico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522976" y="425196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7F2EA"/>
          </a:solidFill>
          <a:ln/>
        </p:spPr>
      </p:sp>
      <p:sp>
        <p:nvSpPr>
          <p:cNvPr id="19" name="Text 17"/>
          <p:cNvSpPr/>
          <p:nvPr/>
        </p:nvSpPr>
        <p:spPr>
          <a:xfrm>
            <a:off x="5522976" y="4251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Açúcar residual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10144" y="425196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7F2EA"/>
          </a:solidFill>
          <a:ln/>
        </p:spPr>
      </p:sp>
      <p:sp>
        <p:nvSpPr>
          <p:cNvPr id="21" name="Text 19"/>
          <p:cNvSpPr/>
          <p:nvPr/>
        </p:nvSpPr>
        <p:spPr>
          <a:xfrm>
            <a:off x="8010144" y="4251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Cloretos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7F2E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846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Dióxido de enxofre livre e total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035808" y="484632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7F2EA"/>
          </a:solidFill>
          <a:ln/>
        </p:spPr>
      </p:sp>
      <p:sp>
        <p:nvSpPr>
          <p:cNvPr id="25" name="Text 23"/>
          <p:cNvSpPr/>
          <p:nvPr/>
        </p:nvSpPr>
        <p:spPr>
          <a:xfrm>
            <a:off x="3035808" y="4846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22976" y="484632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7F2EA"/>
          </a:solidFill>
          <a:ln/>
        </p:spPr>
      </p:sp>
      <p:sp>
        <p:nvSpPr>
          <p:cNvPr id="27" name="Text 25"/>
          <p:cNvSpPr/>
          <p:nvPr/>
        </p:nvSpPr>
        <p:spPr>
          <a:xfrm>
            <a:off x="5522976" y="4846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10144" y="484632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7F2EA"/>
          </a:solidFill>
          <a:ln/>
        </p:spPr>
      </p:sp>
      <p:sp>
        <p:nvSpPr>
          <p:cNvPr id="29" name="Text 27"/>
          <p:cNvSpPr/>
          <p:nvPr/>
        </p:nvSpPr>
        <p:spPr>
          <a:xfrm>
            <a:off x="8010144" y="4846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Sulfatos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44068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7F2EA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440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 alcoólico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Wine Quality Dataset (Kaggle) — variante tinta do "Vinho Verde" português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Classificação de Qualidade de Vinhos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INSIGHT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2A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Vinhos premiados são raros — e isso muda como olhamos para o problema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159 das 1.143 amostras (13,9%) atingiram nota 7 ou mais. Isso significa que um modelo ingênuo, que sempre "apostasse" em qualidade baixa/média, já acertaria 86% das vezes — sem identificar nenhum vinho bom.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6035040" cy="1234440"/>
          </a:xfrm>
          <a:prstGeom prst="roundRect">
            <a:avLst>
              <a:gd name="adj" fmla="val 5926"/>
            </a:avLst>
          </a:prstGeom>
          <a:solidFill>
            <a:srgbClr val="F7F2E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1605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isso, avaliamos os modelos além da simples "taxa de acerto" — priorizando métricas que enxergam especificamente a capacidade de identificar corretamente os vinhos de alta qualidade.</a:t>
            </a:r>
            <a:endParaRPr lang="en-US" sz="1250" dirty="0"/>
          </a:p>
        </p:txBody>
      </p:sp>
      <p:pic>
        <p:nvPicPr>
          <p:cNvPr id="7" name="Image 0" descr="/home/claude/pptx_build/images/04_balanceamento_clas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051560"/>
            <a:ext cx="4572000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Classificação de Qualidade de Vinhos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INSIGHT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fatores se destacam acima de todos os outros</a:t>
            </a:r>
            <a:endParaRPr lang="en-US" sz="2800" dirty="0"/>
          </a:p>
        </p:txBody>
      </p:sp>
      <p:pic>
        <p:nvPicPr>
          <p:cNvPr id="4" name="Image 0" descr="/home/claude/pptx_build/images/05_top_features_vs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7406640" cy="39136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92440" y="164592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7B2D26"/>
          </a:solidFill>
          <a:ln/>
        </p:spPr>
      </p:sp>
      <p:sp>
        <p:nvSpPr>
          <p:cNvPr id="6" name="Text 3"/>
          <p:cNvSpPr/>
          <p:nvPr/>
        </p:nvSpPr>
        <p:spPr>
          <a:xfrm>
            <a:off x="8366760" y="18105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Teor alcoólico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366760" y="219456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Vinhos de alta qualidade têm, em média, mais álcool — reflexo de uvas colhidas em ponto de maturação mais avançado.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092440" y="352044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2A2119"/>
          </a:solidFill>
          <a:ln/>
        </p:spPr>
      </p:sp>
      <p:sp>
        <p:nvSpPr>
          <p:cNvPr id="9" name="Text 6"/>
          <p:cNvSpPr/>
          <p:nvPr/>
        </p:nvSpPr>
        <p:spPr>
          <a:xfrm>
            <a:off x="8366760" y="36850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Acidez volátil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366760" y="406908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maior a acidez volátil, pior a nota — esse composto está ligado ao defeito sensorial de "gosto de vinagre".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5623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da distribuição de cada variável entre vinhos de baixa/média e de alta qualidade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Classificação de Qualidade de Vinhos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COMPLETA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A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as variáveis se relacionam entre si e com a qualidade</a:t>
            </a:r>
            <a:endParaRPr lang="en-US" sz="2500" dirty="0"/>
          </a:p>
        </p:txBody>
      </p:sp>
      <p:pic>
        <p:nvPicPr>
          <p:cNvPr id="4" name="Image 0" descr="/home/claude/pptx_build/images/03_correl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417320"/>
            <a:ext cx="5760720" cy="5166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executiva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365760" y="2057400"/>
            <a:ext cx="2697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em vermelho tendem a acompanhar a qualidade; em azul, tendem a se opor a ela. Quanto mais forte a cor, mais forte a relação.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Algumas variáveis físico-químicas também se movem juntas — por exemplo, acidez fixa e ácido cítrico — o que é esperado quimicamente e foi considerado na escolha dos modelos.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Classificação de Qualidade de Vinhos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DOS DADOS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dados limpa, sem informações faltantes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1907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valores em branco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08483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1.143 amostras têm as 11 variáveis completas — não foi necessária nenhuma imputação de dados.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4495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 repetidas foram mantidas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41071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amostras com medições idênticas foram preservadas: refletem limitação de precisão do instrumento, não erro de coleta, e representam vinhos de fato diferentes.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37083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extremos foram ajustados, não descartados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73659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como açúcar residual e cloretos apresentam amostras bem acima da média. Em vez de excluir essas linhas — o que reduziria ainda mais os já raros vinhos de alta qualidade — os valores extremos foram limitados a uma faixa razoável, preservando o volume de dados.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Classificação de Qualidade de Vinhos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5C221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ANÁLISE À DECISÃO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Treinamos e comparamos dois modelos preditivos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3291840"/>
            <a:ext cx="5120640" cy="2651760"/>
          </a:xfrm>
          <a:prstGeom prst="roundRect">
            <a:avLst>
              <a:gd name="adj" fmla="val 2759"/>
            </a:avLst>
          </a:prstGeom>
          <a:solidFill>
            <a:srgbClr val="65262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5204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3000" y="4160520"/>
            <a:ext cx="45720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0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centenas de "árvores de decisão" para votar na previsão final. Lida bem com relações complexas entre variáveis.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3291840"/>
            <a:ext cx="5120640" cy="2651760"/>
          </a:xfrm>
          <a:prstGeom prst="roundRect">
            <a:avLst>
              <a:gd name="adj" fmla="val 2759"/>
            </a:avLst>
          </a:prstGeom>
          <a:solidFill>
            <a:srgbClr val="652620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35204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(Máquina de Vetores de Suporte)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29400" y="4160520"/>
            <a:ext cx="45720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0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a fronteira mais clara possível entre vinhos bons e vinhos médios/ruins, com boa capacidade de capturar padrões não lineares.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Classificação de Qualidade de Vinhos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DA COMPARAÇÃO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foi o modelo mais preciso e mais consistente</a:t>
            </a:r>
            <a:endParaRPr lang="en-US" sz="2600" dirty="0"/>
          </a:p>
        </p:txBody>
      </p:sp>
      <p:pic>
        <p:nvPicPr>
          <p:cNvPr id="4" name="Image 0" descr="/home/claude/pptx_build/images/08_comparacao_metri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6766560" cy="3794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43800" y="164592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F7F2EA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17830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B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89,5%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818120" y="245059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acerto geral com o Random Forest — e a maior taxa de identificação correta dos vinhos de alta qualidade entre os dois modelos.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543800" y="3520440"/>
            <a:ext cx="4114800" cy="1874520"/>
          </a:xfrm>
          <a:prstGeom prst="roundRect">
            <a:avLst>
              <a:gd name="adj" fmla="val 3902"/>
            </a:avLst>
          </a:prstGeom>
          <a:solidFill>
            <a:srgbClr val="2A2119"/>
          </a:solidFill>
          <a:ln/>
        </p:spPr>
      </p:sp>
      <p:sp>
        <p:nvSpPr>
          <p:cNvPr id="9" name="Text 6"/>
          <p:cNvSpPr/>
          <p:nvPr/>
        </p:nvSpPr>
        <p:spPr>
          <a:xfrm>
            <a:off x="7818120" y="36758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confiar nesse resultado?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818120" y="4041648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foi testado em 5 recortes diferentes dos dados (validação cruzada) e manteve desempenho estável em todos eles — não foi um resultado de sorte em um único teste.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Classificação de Qualidade de Vinhos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MODELO ACERTA E ONDE ERRA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2A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é mais forte confirmando vinhos bons do que capturando todos eles</a:t>
            </a:r>
            <a:endParaRPr lang="en-US" sz="2400" dirty="0"/>
          </a:p>
        </p:txBody>
      </p:sp>
      <p:pic>
        <p:nvPicPr>
          <p:cNvPr id="4" name="Image 0" descr="/home/claude/pptx_build/images/07_curvas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4480560" cy="3749040"/>
          </a:xfrm>
          <a:prstGeom prst="rect">
            <a:avLst/>
          </a:prstGeom>
        </p:spPr>
      </p:pic>
      <p:pic>
        <p:nvPicPr>
          <p:cNvPr id="5" name="Image 1" descr="/home/claude/pptx_build/images/06_matrizes_confus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423160"/>
            <a:ext cx="6309360" cy="25237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394960" y="5074920"/>
            <a:ext cx="6309360" cy="1097280"/>
          </a:xfrm>
          <a:prstGeom prst="roundRect">
            <a:avLst>
              <a:gd name="adj" fmla="val 6667"/>
            </a:avLst>
          </a:prstGeom>
          <a:solidFill>
            <a:srgbClr val="F7F2EA"/>
          </a:solidFill>
          <a:ln/>
        </p:spPr>
      </p:sp>
      <p:sp>
        <p:nvSpPr>
          <p:cNvPr id="7" name="Text 3"/>
          <p:cNvSpPr/>
          <p:nvPr/>
        </p:nvSpPr>
        <p:spPr>
          <a:xfrm>
            <a:off x="5669280" y="5230368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cada 10 vinhos que o modelo aponta como "alta qualidade", cerca de 6 realmente são. Ele erra mais ao deixar passar despercebidos alguns vinhos bons do que ao classificar um vinho comum como excelente.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Classificação de Qualidade de Vinhos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REALMENTE IMPORTA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mesmas duas variáveis lideram nos dois modelos</a:t>
            </a:r>
            <a:endParaRPr lang="en-US" sz="2700" dirty="0"/>
          </a:p>
        </p:txBody>
      </p:sp>
      <p:pic>
        <p:nvPicPr>
          <p:cNvPr id="4" name="Image 0" descr="/home/claude/pptx_build/images/09_importancia_variave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58952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75320" y="1691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Implicação para a produção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75320" y="210312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o ponto de colheita (teor alcoólico) e o processo de fermentação (acidez volátil) são as duas alavancas com maior potencial de impacto na qualidade final — mais do que qualquer ajuste isolado de conservantes ou açúcar.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Classificação de Qualidade de Vinhos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usar esse modelo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F7F2E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antecipada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 modelo para sinalizar lotes com maior probabilidade de qualidade baixa antes da degustação final, priorizando o tempo dos enólogos.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7B2D2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148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0" y="27432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operacional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72000" y="342900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0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Direcionar esforços de controle de processo para teor alcoólico (ponto de colheita) e acidez volátil (controle de fermentação).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F7F2EA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148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321040" y="27432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dados, mais confiança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21040" y="342900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a coleta de amostras de vinhos de alta qualidade (hoje só 14% da base) para melhorar a capacidade do modelo de não deixar nenhum vinho bom passar despercebido.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Classificação de Qualidade de Vinhos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A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486400" cy="5486400"/>
          </a:xfrm>
          <a:prstGeom prst="ellipse">
            <a:avLst/>
          </a:prstGeom>
          <a:solidFill>
            <a:srgbClr val="5C221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E9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físico-químicos já carregam boa parte do sinal sobre a qualidade de um vinho — e um modelo bem calibrado pode antecipar decisões que hoje só a degustação final revela.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57200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 técnicos completos disponíveis no notebook e repositório do projeto.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2026-07-10T18:19:47Z</dcterms:created>
  <dcterms:modified xsi:type="dcterms:W3CDTF">2026-07-10T18:19:47Z</dcterms:modified>
</cp:coreProperties>
</file>